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</p:sldIdLst>
  <p:sldSz cx="32918400" cy="43891200"/>
  <p:notesSz cx="6858000" cy="9144000"/>
  <p:defaultTextStyle>
    <a:defPPr>
      <a:defRPr lang="en-US"/>
    </a:defPPr>
    <a:lvl1pPr marL="0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1pPr>
    <a:lvl2pPr marL="1843430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2pPr>
    <a:lvl3pPr marL="3686861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3pPr>
    <a:lvl4pPr marL="5530291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4pPr>
    <a:lvl5pPr marL="737372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5pPr>
    <a:lvl6pPr marL="921715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6pPr>
    <a:lvl7pPr marL="1106058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7pPr>
    <a:lvl8pPr marL="12904013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8pPr>
    <a:lvl9pPr marL="14747443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0334"/>
    <a:srgbClr val="4F2171"/>
    <a:srgbClr val="441D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0A1290-9B24-35D6-E83F-A7668C5B9CC7}" v="117" dt="2026-04-12T08:39:02.7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25" d="100"/>
          <a:sy n="25" d="100"/>
        </p:scale>
        <p:origin x="66" y="1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7183123"/>
            <a:ext cx="27980640" cy="15280640"/>
          </a:xfrm>
        </p:spPr>
        <p:txBody>
          <a:bodyPr anchor="b"/>
          <a:lstStyle>
            <a:lvl1pPr algn="ctr"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23053043"/>
            <a:ext cx="24688800" cy="10596877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73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93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10942333"/>
            <a:ext cx="28392120" cy="18257517"/>
          </a:xfrm>
        </p:spPr>
        <p:txBody>
          <a:bodyPr anchor="b"/>
          <a:lstStyle>
            <a:lvl1pPr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29372573"/>
            <a:ext cx="28392120" cy="9601197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/>
                </a:solidFill>
              </a:defRPr>
            </a:lvl1pPr>
            <a:lvl2pPr marL="164592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75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259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11684000"/>
            <a:ext cx="13990320" cy="27848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11684000"/>
            <a:ext cx="13990320" cy="27848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279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336810"/>
            <a:ext cx="28392120" cy="848360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10759443"/>
            <a:ext cx="13926024" cy="5273037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16032480"/>
            <a:ext cx="13926024" cy="2358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10759443"/>
            <a:ext cx="13994608" cy="5273037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16032480"/>
            <a:ext cx="13994608" cy="2358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852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003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706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926080"/>
            <a:ext cx="10617041" cy="1024128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6319530"/>
            <a:ext cx="16664940" cy="31191200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13167360"/>
            <a:ext cx="10617041" cy="24394163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831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926080"/>
            <a:ext cx="10617041" cy="1024128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6319530"/>
            <a:ext cx="16664940" cy="31191200"/>
          </a:xfrm>
        </p:spPr>
        <p:txBody>
          <a:bodyPr anchor="t"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13167360"/>
            <a:ext cx="10617041" cy="24394163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305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891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2336800"/>
            <a:ext cx="7098030" cy="37195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2336800"/>
            <a:ext cx="20882610" cy="37195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421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2336810"/>
            <a:ext cx="28392120" cy="8483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11684000"/>
            <a:ext cx="28392120" cy="2784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B11913-F300-43E2-BF3B-5FB217FBE680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290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aderBar"/>
          <p:cNvSpPr txBox="1">
            <a:spLocks/>
          </p:cNvSpPr>
          <p:nvPr/>
        </p:nvSpPr>
        <p:spPr>
          <a:xfrm>
            <a:off x="0" y="0"/>
            <a:ext cx="32918400" cy="6240024"/>
          </a:xfrm>
          <a:prstGeom prst="rect">
            <a:avLst/>
          </a:prstGeom>
          <a:solidFill>
            <a:srgbClr val="280334"/>
          </a:solidFill>
        </p:spPr>
        <p:txBody>
          <a:bodyPr wrap="square" lIns="457200" tIns="182880" rIns="457200" bIns="182880" rtlCol="0" anchor="ctr">
            <a:normAutofit/>
          </a:bodyPr>
          <a:lstStyle/>
          <a:p>
            <a:pPr algn="ctr"/>
            <a:r>
              <a:rPr lang="en-US" sz="8000" b="1" dirty="0">
                <a:solidFill>
                  <a:srgbClr val="FFFFFF"/>
                </a:solidFill>
              </a:rPr>
              <a:t>Ratscrew’d: Exploring Game Development as a Branch of Software Development</a:t>
            </a:r>
          </a:p>
          <a:p>
            <a:pPr algn="ctr"/>
            <a:r>
              <a:rPr lang="en-US" sz="4000" dirty="0">
                <a:solidFill>
                  <a:srgbClr val="DDCCEE"/>
                </a:solidFill>
              </a:rPr>
              <a:t>Michael Watkins  |  CST-452: Senior Project II  |  Grand Canyon University  |  Spring 2026</a:t>
            </a:r>
          </a:p>
        </p:txBody>
      </p:sp>
      <p:sp>
        <p:nvSpPr>
          <p:cNvPr id="21" name="Col1Sec1Hdr"/>
          <p:cNvSpPr txBox="1">
            <a:spLocks/>
          </p:cNvSpPr>
          <p:nvPr/>
        </p:nvSpPr>
        <p:spPr>
          <a:xfrm>
            <a:off x="600000" y="6640000"/>
            <a:ext cx="10239400" cy="1400000"/>
          </a:xfrm>
          <a:prstGeom prst="rect">
            <a:avLst/>
          </a:prstGeom>
          <a:solidFill>
            <a:srgbClr val="280334"/>
          </a:solidFill>
        </p:spPr>
        <p:txBody>
          <a:bodyPr wrap="square" lIns="228600" tIns="91440" rIns="228600" bIns="91440" rtlCol="0" anchor="ctr">
            <a:normAutofit/>
          </a:bodyPr>
          <a:lstStyle/>
          <a:p>
            <a:pPr algn="ctr"/>
            <a:r>
              <a:rPr lang="en-US" sz="5000" b="1" dirty="0">
                <a:solidFill>
                  <a:srgbClr val="FFFFFF"/>
                </a:solidFill>
              </a:rPr>
              <a:t>PROJECT DESCRIPTION</a:t>
            </a:r>
          </a:p>
        </p:txBody>
      </p:sp>
      <p:sp>
        <p:nvSpPr>
          <p:cNvPr id="22" name="Col1Sec1Content"/>
          <p:cNvSpPr txBox="1"/>
          <p:nvPr/>
        </p:nvSpPr>
        <p:spPr>
          <a:xfrm>
            <a:off x="600000" y="8340000"/>
            <a:ext cx="10239400" cy="8484374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r>
              <a:rPr lang="en-US" sz="2400" dirty="0" err="1">
                <a:solidFill>
                  <a:srgbClr val="111111"/>
                </a:solidFill>
              </a:rPr>
              <a:t>Ratscrew’d</a:t>
            </a:r>
            <a:r>
              <a:rPr lang="en-US" sz="2400" dirty="0">
                <a:solidFill>
                  <a:srgbClr val="111111"/>
                </a:solidFill>
              </a:rPr>
              <a:t> is a Java-based, single-player digital card game that reimagines</a:t>
            </a:r>
          </a:p>
          <a:p>
            <a:r>
              <a:rPr lang="en-US" sz="2400" dirty="0">
                <a:solidFill>
                  <a:srgbClr val="111111"/>
                </a:solidFill>
              </a:rPr>
              <a:t>the classic Egyptian Rat Screw (ERS) with modern features and a reactive AI opponent.</a:t>
            </a:r>
          </a:p>
          <a:p>
            <a:r>
              <a:rPr lang="en-US" sz="2400" dirty="0">
                <a:solidFill>
                  <a:srgbClr val="111111"/>
                </a:solidFill>
              </a:rPr>
              <a:t>Built as the CST-452 Senior Project II capstone, it runs as a standalone desktop</a:t>
            </a:r>
          </a:p>
          <a:p>
            <a:r>
              <a:rPr lang="en-US" sz="2400" dirty="0">
                <a:solidFill>
                  <a:srgbClr val="111111"/>
                </a:solidFill>
              </a:rPr>
              <a:t>application using Java Swing for all graphics and user interaction.</a:t>
            </a:r>
          </a:p>
          <a:p>
            <a:endParaRPr lang="en-US" sz="1200" dirty="0"/>
          </a:p>
          <a:p>
            <a:pPr>
              <a:spcBef>
                <a:spcPts val="200"/>
              </a:spcBef>
            </a:pPr>
            <a:r>
              <a:rPr lang="en-US" sz="2800" b="1" dirty="0">
                <a:solidFill>
                  <a:srgbClr val="111111"/>
                </a:solidFill>
              </a:rPr>
              <a:t>CORE FEATURES</a:t>
            </a:r>
          </a:p>
          <a:p>
            <a:r>
              <a:rPr lang="en-US" sz="2400" dirty="0">
                <a:solidFill>
                  <a:srgbClr val="111111"/>
                </a:solidFill>
              </a:rPr>
              <a:t>Core ERS Gameplay:  Deck management, turn-taking, slap mechanic, Faces &amp; Aces rule.</a:t>
            </a:r>
          </a:p>
          <a:p>
            <a:r>
              <a:rPr lang="en-US" sz="2400">
                <a:solidFill>
                  <a:srgbClr val="111111"/>
                </a:solidFill>
              </a:rPr>
              <a:t>AI Opponent:  Round-scaling difficulty (slap delay and aggression increase each round).</a:t>
            </a:r>
            <a:endParaRPr lang="en-US" sz="2400">
              <a:solidFill>
                <a:srgbClr val="111111"/>
              </a:solidFill>
              <a:ea typeface="Calibri"/>
              <a:cs typeface="Calibri"/>
            </a:endParaRPr>
          </a:p>
          <a:p>
            <a:r>
              <a:rPr lang="en-US" sz="2400" dirty="0">
                <a:solidFill>
                  <a:srgbClr val="111111"/>
                </a:solidFill>
              </a:rPr>
              <a:t>Card Store:  Spend earned points to add card packs to future decks between rounds.</a:t>
            </a:r>
          </a:p>
          <a:p>
            <a:r>
              <a:rPr lang="en-US" sz="2400">
                <a:solidFill>
                  <a:srgbClr val="111111"/>
                </a:solidFill>
              </a:rPr>
              <a:t>Save &amp; Load:  Full game state persisted via Java serialization which is restorable on </a:t>
            </a:r>
            <a:r>
              <a:rPr lang="en-US" sz="2400" dirty="0">
                <a:solidFill>
                  <a:srgbClr val="111111"/>
                </a:solidFill>
              </a:rPr>
              <a:t>relaunch.</a:t>
            </a:r>
          </a:p>
          <a:p>
            <a:r>
              <a:rPr lang="en-US" sz="2400" dirty="0">
                <a:solidFill>
                  <a:srgbClr val="111111"/>
                </a:solidFill>
              </a:rPr>
              <a:t>Java Swing GUI:  Main menu, gameplay screen, How to Play dialog, and all state overlays.</a:t>
            </a:r>
          </a:p>
          <a:p>
            <a:r>
              <a:rPr lang="en-US" sz="2400" dirty="0">
                <a:solidFill>
                  <a:srgbClr val="111111"/>
                </a:solidFill>
              </a:rPr>
              <a:t>Sound Effects:  Asynchronous .wav playback via </a:t>
            </a:r>
            <a:r>
              <a:rPr lang="en-US" sz="2400" dirty="0" err="1">
                <a:solidFill>
                  <a:srgbClr val="111111"/>
                </a:solidFill>
              </a:rPr>
              <a:t>SoundManager</a:t>
            </a:r>
            <a:r>
              <a:rPr lang="en-US" sz="2400" dirty="0">
                <a:solidFill>
                  <a:srgbClr val="111111"/>
                </a:solidFill>
              </a:rPr>
              <a:t> for key game events.</a:t>
            </a:r>
          </a:p>
          <a:p>
            <a:endParaRPr lang="en-US" sz="1200" dirty="0"/>
          </a:p>
          <a:p>
            <a:pPr>
              <a:spcBef>
                <a:spcPts val="200"/>
              </a:spcBef>
            </a:pPr>
            <a:r>
              <a:rPr lang="en-US" sz="2800" b="1" dirty="0">
                <a:solidFill>
                  <a:srgbClr val="111111"/>
                </a:solidFill>
              </a:rPr>
              <a:t>TECHNOLOGY STACK</a:t>
            </a:r>
          </a:p>
          <a:p>
            <a:r>
              <a:rPr lang="en-US" sz="2400" dirty="0">
                <a:solidFill>
                  <a:srgbClr val="111111"/>
                </a:solidFill>
              </a:rPr>
              <a:t>Language: Java JDK 21     IDE: Eclipse</a:t>
            </a:r>
          </a:p>
          <a:p>
            <a:r>
              <a:rPr lang="en-US" sz="2400" dirty="0">
                <a:solidFill>
                  <a:srgbClr val="111111"/>
                </a:solidFill>
              </a:rPr>
              <a:t>GUI: Java Swing (</a:t>
            </a:r>
            <a:r>
              <a:rPr lang="en-US" sz="2400" dirty="0" err="1">
                <a:solidFill>
                  <a:srgbClr val="111111"/>
                </a:solidFill>
              </a:rPr>
              <a:t>javax.swing</a:t>
            </a:r>
            <a:r>
              <a:rPr lang="en-US" sz="2400" dirty="0">
                <a:solidFill>
                  <a:srgbClr val="111111"/>
                </a:solidFill>
              </a:rPr>
              <a:t>)     Persistence: Java Object Serialization</a:t>
            </a:r>
          </a:p>
        </p:txBody>
      </p:sp>
      <p:sp>
        <p:nvSpPr>
          <p:cNvPr id="23" name="Col1Sec2Hdr"/>
          <p:cNvSpPr txBox="1">
            <a:spLocks/>
          </p:cNvSpPr>
          <p:nvPr/>
        </p:nvSpPr>
        <p:spPr>
          <a:xfrm>
            <a:off x="600000" y="22000000"/>
            <a:ext cx="10239400" cy="1400000"/>
          </a:xfrm>
          <a:prstGeom prst="rect">
            <a:avLst/>
          </a:prstGeom>
          <a:solidFill>
            <a:srgbClr val="280334"/>
          </a:solidFill>
        </p:spPr>
        <p:txBody>
          <a:bodyPr wrap="square" lIns="228600" tIns="91440" rIns="228600" bIns="91440" rtlCol="0" anchor="ctr">
            <a:normAutofit/>
          </a:bodyPr>
          <a:lstStyle/>
          <a:p>
            <a:pPr algn="ctr"/>
            <a:r>
              <a:rPr lang="en-US" sz="5000" b="1" dirty="0">
                <a:solidFill>
                  <a:srgbClr val="FFFFFF"/>
                </a:solidFill>
              </a:rPr>
              <a:t>PROJECT JUSTIFICATION</a:t>
            </a:r>
          </a:p>
        </p:txBody>
      </p:sp>
      <p:sp>
        <p:nvSpPr>
          <p:cNvPr id="24" name="Col1Sec2Content"/>
          <p:cNvSpPr txBox="1"/>
          <p:nvPr/>
        </p:nvSpPr>
        <p:spPr>
          <a:xfrm>
            <a:off x="600000" y="23700000"/>
            <a:ext cx="10239400" cy="7017306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r>
              <a:rPr lang="en-US" sz="2400" dirty="0">
                <a:solidFill>
                  <a:srgbClr val="111111"/>
                </a:solidFill>
              </a:rPr>
              <a:t>Game development is a discipline within software engineering that applies the same</a:t>
            </a:r>
          </a:p>
          <a:p>
            <a:r>
              <a:rPr lang="en-US" sz="2400" dirty="0">
                <a:solidFill>
                  <a:srgbClr val="111111"/>
                </a:solidFill>
              </a:rPr>
              <a:t>core practices as enterprise development: object-oriented design, state management,</a:t>
            </a:r>
          </a:p>
          <a:p>
            <a:r>
              <a:rPr lang="en-US" sz="2400" dirty="0">
                <a:solidFill>
                  <a:srgbClr val="111111"/>
                </a:solidFill>
              </a:rPr>
              <a:t>event-driven architecture, iterative testing, and design patterns.</a:t>
            </a:r>
          </a:p>
          <a:p>
            <a:endParaRPr lang="en-US" sz="1200" dirty="0"/>
          </a:p>
          <a:p>
            <a:r>
              <a:rPr lang="en-US" sz="2400" dirty="0">
                <a:solidFill>
                  <a:srgbClr val="111111"/>
                </a:solidFill>
              </a:rPr>
              <a:t>This project was motivated by a personal interest in game design and an academic goal:</a:t>
            </a:r>
          </a:p>
          <a:p>
            <a:r>
              <a:rPr lang="en-US" sz="2400" dirty="0">
                <a:solidFill>
                  <a:srgbClr val="111111"/>
                </a:solidFill>
              </a:rPr>
              <a:t>to demonstrate that non-trivial game software can be engineered with the same rigor</a:t>
            </a:r>
          </a:p>
          <a:p>
            <a:r>
              <a:rPr lang="en-US" sz="2400" dirty="0">
                <a:solidFill>
                  <a:srgbClr val="111111"/>
                </a:solidFill>
              </a:rPr>
              <a:t>and discipline as any professional application.</a:t>
            </a:r>
          </a:p>
          <a:p>
            <a:endParaRPr lang="en-US" sz="1200" dirty="0"/>
          </a:p>
          <a:p>
            <a:r>
              <a:rPr lang="en-US" sz="2400" dirty="0">
                <a:solidFill>
                  <a:srgbClr val="111111"/>
                </a:solidFill>
              </a:rPr>
              <a:t>As a solo capstone project, </a:t>
            </a:r>
            <a:r>
              <a:rPr lang="en-US" sz="2400" dirty="0" err="1">
                <a:solidFill>
                  <a:srgbClr val="111111"/>
                </a:solidFill>
              </a:rPr>
              <a:t>Ratscrew’d</a:t>
            </a:r>
            <a:r>
              <a:rPr lang="en-US" sz="2400" dirty="0">
                <a:solidFill>
                  <a:srgbClr val="111111"/>
                </a:solidFill>
              </a:rPr>
              <a:t> showcases full development ownership</a:t>
            </a:r>
            <a:endParaRPr lang="en-US" sz="2400" dirty="0">
              <a:solidFill>
                <a:srgbClr val="111111"/>
              </a:solidFill>
              <a:ea typeface="Calibri"/>
              <a:cs typeface="Calibri"/>
            </a:endParaRPr>
          </a:p>
          <a:p>
            <a:r>
              <a:rPr lang="en-US" sz="2400" dirty="0">
                <a:solidFill>
                  <a:srgbClr val="111111"/>
                </a:solidFill>
              </a:rPr>
              <a:t>from initial requirements and system architecture through two milestone iterations,</a:t>
            </a:r>
          </a:p>
          <a:p>
            <a:r>
              <a:rPr lang="en-US" sz="2400" dirty="0">
                <a:solidFill>
                  <a:srgbClr val="111111"/>
                </a:solidFill>
              </a:rPr>
              <a:t>scope management decisions, and a comprehensive 14-case testing strategy.</a:t>
            </a:r>
          </a:p>
          <a:p>
            <a:endParaRPr lang="en-US" sz="1200" dirty="0"/>
          </a:p>
          <a:p>
            <a:r>
              <a:rPr lang="en-US" sz="2400" dirty="0">
                <a:solidFill>
                  <a:srgbClr val="111111"/>
                </a:solidFill>
              </a:rPr>
              <a:t>The result is a polished, demonstrable artifact that validates game development as a</a:t>
            </a:r>
          </a:p>
          <a:p>
            <a:r>
              <a:rPr lang="en-US" sz="2400" dirty="0">
                <a:solidFill>
                  <a:srgbClr val="111111"/>
                </a:solidFill>
              </a:rPr>
              <a:t>legitimate and technically demanding branch of software engineering.</a:t>
            </a:r>
          </a:p>
        </p:txBody>
      </p:sp>
      <p:sp>
        <p:nvSpPr>
          <p:cNvPr id="25" name="Col2Sec1Hdr"/>
          <p:cNvSpPr txBox="1">
            <a:spLocks/>
          </p:cNvSpPr>
          <p:nvPr/>
        </p:nvSpPr>
        <p:spPr>
          <a:xfrm>
            <a:off x="11339400" y="6640000"/>
            <a:ext cx="10239400" cy="1400000"/>
          </a:xfrm>
          <a:prstGeom prst="rect">
            <a:avLst/>
          </a:prstGeom>
          <a:solidFill>
            <a:srgbClr val="280334"/>
          </a:solidFill>
        </p:spPr>
        <p:txBody>
          <a:bodyPr wrap="square" lIns="228600" tIns="91440" rIns="228600" bIns="91440" rtlCol="0" anchor="ctr">
            <a:normAutofit/>
          </a:bodyPr>
          <a:lstStyle/>
          <a:p>
            <a:pPr algn="ctr"/>
            <a:r>
              <a:rPr lang="en-US" sz="5000" b="1" dirty="0">
                <a:solidFill>
                  <a:srgbClr val="FFFFFF"/>
                </a:solidFill>
              </a:rPr>
              <a:t>FUNCTIONAL REQUIREMENTS</a:t>
            </a:r>
          </a:p>
        </p:txBody>
      </p:sp>
      <p:sp>
        <p:nvSpPr>
          <p:cNvPr id="26" name="Col2Sec1Content"/>
          <p:cNvSpPr txBox="1"/>
          <p:nvPr/>
        </p:nvSpPr>
        <p:spPr>
          <a:xfrm>
            <a:off x="11339400" y="8340000"/>
            <a:ext cx="10239400" cy="12741950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>
              <a:spcBef>
                <a:spcPts val="150"/>
              </a:spcBef>
            </a:pPr>
            <a:r>
              <a:rPr lang="en-US" sz="2400" b="1" dirty="0">
                <a:solidFill>
                  <a:srgbClr val="111111"/>
                </a:solidFill>
              </a:rPr>
              <a:t>FR-001  |  Game Initialization</a:t>
            </a:r>
          </a:p>
          <a:p>
            <a:r>
              <a:rPr lang="en-US" sz="2200" dirty="0">
                <a:solidFill>
                  <a:srgbClr val="111111"/>
                </a:solidFill>
              </a:rPr>
              <a:t>54-card deck (incl. 2 Jokers) built, shuffled, and dealt 7 cards per player. The center deck holds the remainder.</a:t>
            </a:r>
          </a:p>
          <a:p>
            <a:pPr>
              <a:spcBef>
                <a:spcPts val="150"/>
              </a:spcBef>
            </a:pPr>
            <a:r>
              <a:rPr lang="en-US" sz="2400" b="1" dirty="0">
                <a:solidFill>
                  <a:srgbClr val="111111"/>
                </a:solidFill>
              </a:rPr>
              <a:t>FR-002  |  Play a Card</a:t>
            </a:r>
          </a:p>
          <a:p>
            <a:r>
              <a:rPr lang="en-US" sz="2200" dirty="0">
                <a:solidFill>
                  <a:srgbClr val="111111"/>
                </a:solidFill>
              </a:rPr>
              <a:t>On each turn a player plays one card face-up onto the center discard pile.</a:t>
            </a:r>
          </a:p>
          <a:p>
            <a:pPr>
              <a:spcBef>
                <a:spcPts val="150"/>
              </a:spcBef>
            </a:pPr>
            <a:r>
              <a:rPr lang="en-US" sz="2400" b="1" dirty="0">
                <a:solidFill>
                  <a:srgbClr val="111111"/>
                </a:solidFill>
              </a:rPr>
              <a:t>FR-003  |  Slap Mechanic</a:t>
            </a:r>
          </a:p>
          <a:p>
            <a:r>
              <a:rPr lang="en-US" sz="2200">
                <a:solidFill>
                  <a:srgbClr val="111111"/>
                </a:solidFill>
              </a:rPr>
              <a:t>Players may slap the pile when a valid condition exists (doubles or Joker on top), the pile </a:t>
            </a:r>
            <a:r>
              <a:rPr lang="en-US" sz="2200" dirty="0">
                <a:solidFill>
                  <a:srgbClr val="111111"/>
                </a:solidFill>
              </a:rPr>
              <a:t>awarded to successful slapper.</a:t>
            </a:r>
          </a:p>
          <a:p>
            <a:pPr>
              <a:spcBef>
                <a:spcPts val="150"/>
              </a:spcBef>
            </a:pPr>
            <a:r>
              <a:rPr lang="en-US" sz="2400" b="1" dirty="0">
                <a:solidFill>
                  <a:srgbClr val="111111"/>
                </a:solidFill>
              </a:rPr>
              <a:t>FR-004  |  Invalid Slap Penalty</a:t>
            </a:r>
          </a:p>
          <a:p>
            <a:r>
              <a:rPr lang="en-US" sz="2200" dirty="0">
                <a:solidFill>
                  <a:srgbClr val="111111"/>
                </a:solidFill>
              </a:rPr>
              <a:t>An invalid slap causes a 2-card penalty transferred from the slapper’s hand to the pile.</a:t>
            </a:r>
          </a:p>
          <a:p>
            <a:pPr>
              <a:spcBef>
                <a:spcPts val="150"/>
              </a:spcBef>
            </a:pPr>
            <a:r>
              <a:rPr lang="en-US" sz="2400" b="1" dirty="0">
                <a:solidFill>
                  <a:srgbClr val="111111"/>
                </a:solidFill>
              </a:rPr>
              <a:t>FR-005  |  Faces &amp; Aces Rule</a:t>
            </a:r>
          </a:p>
          <a:p>
            <a:r>
              <a:rPr lang="en-US" sz="2200" dirty="0">
                <a:solidFill>
                  <a:srgbClr val="111111"/>
                </a:solidFill>
              </a:rPr>
              <a:t>A face card or Ace play requires the opponent to respond with their own face/Ace or forfeit the entire pile.</a:t>
            </a:r>
          </a:p>
          <a:p>
            <a:pPr>
              <a:spcBef>
                <a:spcPts val="150"/>
              </a:spcBef>
            </a:pPr>
            <a:r>
              <a:rPr lang="en-US" sz="2400" b="1" dirty="0">
                <a:solidFill>
                  <a:srgbClr val="111111"/>
                </a:solidFill>
              </a:rPr>
              <a:t>FR-006/007  |  Round End Conditions</a:t>
            </a:r>
          </a:p>
          <a:p>
            <a:r>
              <a:rPr lang="en-US" sz="2200">
                <a:solidFill>
                  <a:srgbClr val="111111"/>
                </a:solidFill>
              </a:rPr>
              <a:t>When either player empties hand and draw pile: human win transitions to Card Store, while AI </a:t>
            </a:r>
            <a:r>
              <a:rPr lang="en-US" sz="2200" dirty="0">
                <a:solidFill>
                  <a:srgbClr val="111111"/>
                </a:solidFill>
              </a:rPr>
              <a:t>win triggers Game Over.</a:t>
            </a:r>
          </a:p>
          <a:p>
            <a:pPr>
              <a:spcBef>
                <a:spcPts val="150"/>
              </a:spcBef>
            </a:pPr>
            <a:r>
              <a:rPr lang="en-US" sz="2400" b="1" dirty="0">
                <a:solidFill>
                  <a:srgbClr val="111111"/>
                </a:solidFill>
              </a:rPr>
              <a:t>FR-008  |  Cycle Limit Tiebreaker</a:t>
            </a:r>
          </a:p>
          <a:p>
            <a:r>
              <a:rPr lang="en-US" sz="2200" dirty="0">
                <a:solidFill>
                  <a:srgbClr val="111111"/>
                </a:solidFill>
              </a:rPr>
              <a:t>After center deck depletion, 10 consecutive cycles without a 5+ card gain triggers a forced tiebreaker round end.</a:t>
            </a:r>
          </a:p>
          <a:p>
            <a:pPr>
              <a:spcBef>
                <a:spcPts val="150"/>
              </a:spcBef>
            </a:pPr>
            <a:r>
              <a:rPr lang="en-US" sz="2400" b="1" dirty="0">
                <a:solidFill>
                  <a:srgbClr val="111111"/>
                </a:solidFill>
              </a:rPr>
              <a:t>FR-009  |  AI Difficulty Scaling</a:t>
            </a:r>
          </a:p>
          <a:p>
            <a:r>
              <a:rPr lang="en-US" sz="2200" dirty="0">
                <a:solidFill>
                  <a:srgbClr val="111111"/>
                </a:solidFill>
              </a:rPr>
              <a:t>AI slap delay and card-selection aggression increase proportionally with round number.</a:t>
            </a:r>
          </a:p>
          <a:p>
            <a:pPr>
              <a:spcBef>
                <a:spcPts val="150"/>
              </a:spcBef>
            </a:pPr>
            <a:r>
              <a:rPr lang="en-US" sz="2400" b="1" dirty="0">
                <a:solidFill>
                  <a:srgbClr val="111111"/>
                </a:solidFill>
              </a:rPr>
              <a:t>FR-010  |  Card Store</a:t>
            </a:r>
          </a:p>
          <a:p>
            <a:r>
              <a:rPr lang="en-US" sz="2200" dirty="0">
                <a:solidFill>
                  <a:srgbClr val="111111"/>
                </a:solidFill>
              </a:rPr>
              <a:t>Human spends earned points to buy card packs (4 cards each, max 2 packs/visit) shuffled into future decks.</a:t>
            </a:r>
          </a:p>
          <a:p>
            <a:pPr>
              <a:spcBef>
                <a:spcPts val="150"/>
              </a:spcBef>
            </a:pPr>
            <a:r>
              <a:rPr lang="en-US" sz="2400" b="1" dirty="0">
                <a:solidFill>
                  <a:srgbClr val="111111"/>
                </a:solidFill>
              </a:rPr>
              <a:t>FR-011  |  Save &amp; Load</a:t>
            </a:r>
          </a:p>
          <a:p>
            <a:r>
              <a:rPr lang="en-US" sz="2200" dirty="0">
                <a:solidFill>
                  <a:srgbClr val="111111"/>
                </a:solidFill>
              </a:rPr>
              <a:t>Full game state serialized to disk via </a:t>
            </a:r>
            <a:r>
              <a:rPr lang="en-US" sz="2200" dirty="0" err="1">
                <a:solidFill>
                  <a:srgbClr val="111111"/>
                </a:solidFill>
              </a:rPr>
              <a:t>ObjectOutputStream</a:t>
            </a:r>
            <a:r>
              <a:rPr lang="en-US" sz="2200" dirty="0">
                <a:solidFill>
                  <a:srgbClr val="111111"/>
                </a:solidFill>
              </a:rPr>
              <a:t>; restored via </a:t>
            </a:r>
            <a:r>
              <a:rPr lang="en-US" sz="2200" dirty="0" err="1">
                <a:solidFill>
                  <a:srgbClr val="111111"/>
                </a:solidFill>
              </a:rPr>
              <a:t>ObjectInputStream</a:t>
            </a:r>
            <a:r>
              <a:rPr lang="en-US" sz="2200" dirty="0">
                <a:solidFill>
                  <a:srgbClr val="111111"/>
                </a:solidFill>
              </a:rPr>
              <a:t> on next launch.</a:t>
            </a:r>
          </a:p>
          <a:p>
            <a:pPr>
              <a:spcBef>
                <a:spcPts val="150"/>
              </a:spcBef>
            </a:pPr>
            <a:r>
              <a:rPr lang="en-US" sz="2400" b="1" dirty="0">
                <a:solidFill>
                  <a:srgbClr val="111111"/>
                </a:solidFill>
              </a:rPr>
              <a:t>FR-012  |  Main Menu</a:t>
            </a:r>
          </a:p>
          <a:p>
            <a:r>
              <a:rPr lang="en-US" sz="2200" dirty="0">
                <a:solidFill>
                  <a:srgbClr val="111111"/>
                </a:solidFill>
              </a:rPr>
              <a:t>New Game, Continue (if save exists), How to Play, and Exit navigation from main menu screen.</a:t>
            </a:r>
          </a:p>
          <a:p>
            <a:pPr>
              <a:spcBef>
                <a:spcPts val="150"/>
              </a:spcBef>
            </a:pPr>
            <a:r>
              <a:rPr lang="en-US" sz="2400" b="1" dirty="0">
                <a:solidFill>
                  <a:srgbClr val="111111"/>
                </a:solidFill>
              </a:rPr>
              <a:t>FR-013  |  Card Image Rendering</a:t>
            </a:r>
          </a:p>
          <a:p>
            <a:r>
              <a:rPr lang="en-US" sz="2200" dirty="0">
                <a:solidFill>
                  <a:srgbClr val="111111"/>
                </a:solidFill>
              </a:rPr>
              <a:t>Card images loaded from disk and cached in </a:t>
            </a:r>
            <a:r>
              <a:rPr lang="en-US" sz="2200" dirty="0" err="1">
                <a:solidFill>
                  <a:srgbClr val="111111"/>
                </a:solidFill>
              </a:rPr>
              <a:t>CardImageLoader</a:t>
            </a:r>
            <a:r>
              <a:rPr lang="en-US" sz="2200" dirty="0">
                <a:solidFill>
                  <a:srgbClr val="111111"/>
                </a:solidFill>
              </a:rPr>
              <a:t>, with a placeholder displayed if file is missing.</a:t>
            </a:r>
          </a:p>
          <a:p>
            <a:pPr>
              <a:spcBef>
                <a:spcPts val="150"/>
              </a:spcBef>
            </a:pPr>
            <a:r>
              <a:rPr lang="en-US" sz="2400" b="1" dirty="0">
                <a:solidFill>
                  <a:srgbClr val="111111"/>
                </a:solidFill>
              </a:rPr>
              <a:t>FR-014  |  Sound Effects</a:t>
            </a:r>
          </a:p>
          <a:p>
            <a:r>
              <a:rPr lang="en-US" sz="2200" dirty="0">
                <a:solidFill>
                  <a:srgbClr val="111111"/>
                </a:solidFill>
              </a:rPr>
              <a:t>Slap, card play, and store events trigger asynchronous .wav playback via </a:t>
            </a:r>
            <a:r>
              <a:rPr lang="en-US" sz="2200" dirty="0" err="1">
                <a:solidFill>
                  <a:srgbClr val="111111"/>
                </a:solidFill>
              </a:rPr>
              <a:t>SoundManager</a:t>
            </a:r>
            <a:r>
              <a:rPr lang="en-US" sz="2200" dirty="0">
                <a:solidFill>
                  <a:srgbClr val="111111"/>
                </a:solidFill>
              </a:rPr>
              <a:t>.</a:t>
            </a:r>
          </a:p>
        </p:txBody>
      </p:sp>
      <p:sp>
        <p:nvSpPr>
          <p:cNvPr id="27" name="Col2Sec2Hdr"/>
          <p:cNvSpPr txBox="1">
            <a:spLocks/>
          </p:cNvSpPr>
          <p:nvPr/>
        </p:nvSpPr>
        <p:spPr>
          <a:xfrm>
            <a:off x="11339400" y="30500000"/>
            <a:ext cx="10239400" cy="1400000"/>
          </a:xfrm>
          <a:prstGeom prst="rect">
            <a:avLst/>
          </a:prstGeom>
          <a:solidFill>
            <a:srgbClr val="280334"/>
          </a:solidFill>
        </p:spPr>
        <p:txBody>
          <a:bodyPr wrap="square" lIns="228600" tIns="91440" rIns="228600" bIns="91440" rtlCol="0" anchor="ctr">
            <a:normAutofit/>
          </a:bodyPr>
          <a:lstStyle/>
          <a:p>
            <a:pPr algn="ctr"/>
            <a:r>
              <a:rPr lang="en-US" sz="5000" b="1" dirty="0">
                <a:solidFill>
                  <a:srgbClr val="FFFFFF"/>
                </a:solidFill>
              </a:rPr>
              <a:t>STANDARDS &amp; SPECIFICATIONS</a:t>
            </a:r>
          </a:p>
        </p:txBody>
      </p:sp>
      <p:sp>
        <p:nvSpPr>
          <p:cNvPr id="28" name="Col2Sec2Content"/>
          <p:cNvSpPr txBox="1"/>
          <p:nvPr/>
        </p:nvSpPr>
        <p:spPr>
          <a:xfrm>
            <a:off x="11339400" y="32200000"/>
            <a:ext cx="10239400" cy="5755422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r>
              <a:rPr lang="en-US" sz="2400" b="1" dirty="0">
                <a:solidFill>
                  <a:srgbClr val="111111"/>
                </a:solidFill>
              </a:rPr>
              <a:t>Runtime &amp; Language:</a:t>
            </a:r>
          </a:p>
          <a:p>
            <a:r>
              <a:rPr lang="en-US" sz="2400" dirty="0">
                <a:solidFill>
                  <a:srgbClr val="111111"/>
                </a:solidFill>
              </a:rPr>
              <a:t>Java JDK 21 | Eclipse IDE</a:t>
            </a:r>
          </a:p>
          <a:p>
            <a:endParaRPr lang="en-US" sz="1000" dirty="0"/>
          </a:p>
          <a:p>
            <a:r>
              <a:rPr lang="en-US" sz="2400" b="1" dirty="0">
                <a:solidFill>
                  <a:srgbClr val="111111"/>
                </a:solidFill>
              </a:rPr>
              <a:t>GUI Framework:</a:t>
            </a:r>
          </a:p>
          <a:p>
            <a:r>
              <a:rPr lang="en-US" sz="2400" dirty="0">
                <a:solidFill>
                  <a:srgbClr val="111111"/>
                </a:solidFill>
              </a:rPr>
              <a:t>Java Swing (</a:t>
            </a:r>
            <a:r>
              <a:rPr lang="en-US" sz="2400" dirty="0" err="1">
                <a:solidFill>
                  <a:srgbClr val="111111"/>
                </a:solidFill>
              </a:rPr>
              <a:t>javax.swing</a:t>
            </a:r>
            <a:r>
              <a:rPr lang="en-US" sz="2400" dirty="0">
                <a:solidFill>
                  <a:srgbClr val="111111"/>
                </a:solidFill>
              </a:rPr>
              <a:t>) for all rendering, event handling, and overlays</a:t>
            </a:r>
          </a:p>
          <a:p>
            <a:endParaRPr lang="en-US" sz="1000" dirty="0"/>
          </a:p>
          <a:p>
            <a:r>
              <a:rPr lang="en-US" sz="2400" b="1" dirty="0">
                <a:solidFill>
                  <a:srgbClr val="111111"/>
                </a:solidFill>
              </a:rPr>
              <a:t>Persistence Standard:</a:t>
            </a:r>
          </a:p>
          <a:p>
            <a:r>
              <a:rPr lang="en-US" sz="2400" dirty="0">
                <a:solidFill>
                  <a:srgbClr val="111111"/>
                </a:solidFill>
              </a:rPr>
              <a:t>Java Object Serialization (</a:t>
            </a:r>
            <a:r>
              <a:rPr lang="en-US" sz="2400" dirty="0" err="1">
                <a:solidFill>
                  <a:srgbClr val="111111"/>
                </a:solidFill>
              </a:rPr>
              <a:t>ObjectInputStream</a:t>
            </a:r>
            <a:r>
              <a:rPr lang="en-US" sz="2400" dirty="0">
                <a:solidFill>
                  <a:srgbClr val="111111"/>
                </a:solidFill>
              </a:rPr>
              <a:t> / </a:t>
            </a:r>
            <a:r>
              <a:rPr lang="en-US" sz="2400" dirty="0" err="1">
                <a:solidFill>
                  <a:srgbClr val="111111"/>
                </a:solidFill>
              </a:rPr>
              <a:t>ObjectOutputStream</a:t>
            </a:r>
            <a:r>
              <a:rPr lang="en-US" sz="2400" dirty="0">
                <a:solidFill>
                  <a:srgbClr val="111111"/>
                </a:solidFill>
              </a:rPr>
              <a:t>)</a:t>
            </a:r>
          </a:p>
          <a:p>
            <a:endParaRPr lang="en-US" sz="1000" dirty="0"/>
          </a:p>
          <a:p>
            <a:r>
              <a:rPr lang="en-US" sz="2400" b="1" dirty="0">
                <a:solidFill>
                  <a:srgbClr val="111111"/>
                </a:solidFill>
              </a:rPr>
              <a:t>Architectural Pattern:</a:t>
            </a:r>
          </a:p>
          <a:p>
            <a:r>
              <a:rPr lang="en-US" sz="2400">
                <a:solidFill>
                  <a:srgbClr val="111111"/>
                </a:solidFill>
              </a:rPr>
              <a:t>Object-Oriented Design: Abstract Player class hierarchy, single-responsibility</a:t>
            </a:r>
            <a:endParaRPr lang="en-US" sz="2400">
              <a:solidFill>
                <a:srgbClr val="111111"/>
              </a:solidFill>
              <a:ea typeface="Calibri"/>
              <a:cs typeface="Calibri"/>
            </a:endParaRPr>
          </a:p>
          <a:p>
            <a:r>
              <a:rPr lang="en-US" sz="2400" dirty="0">
                <a:solidFill>
                  <a:srgbClr val="111111"/>
                </a:solidFill>
              </a:rPr>
              <a:t>modules, and centralized </a:t>
            </a:r>
            <a:r>
              <a:rPr lang="en-US" sz="2400" dirty="0" err="1">
                <a:solidFill>
                  <a:srgbClr val="111111"/>
                </a:solidFill>
              </a:rPr>
              <a:t>GameController</a:t>
            </a:r>
            <a:r>
              <a:rPr lang="en-US" sz="2400" dirty="0">
                <a:solidFill>
                  <a:srgbClr val="111111"/>
                </a:solidFill>
              </a:rPr>
              <a:t> coordinating all game logic</a:t>
            </a:r>
          </a:p>
          <a:p>
            <a:endParaRPr lang="en-US" sz="1000" dirty="0"/>
          </a:p>
          <a:p>
            <a:r>
              <a:rPr lang="en-US" sz="2400" b="1" dirty="0">
                <a:solidFill>
                  <a:srgbClr val="111111"/>
                </a:solidFill>
              </a:rPr>
              <a:t>Development Methodology:</a:t>
            </a:r>
          </a:p>
          <a:p>
            <a:r>
              <a:rPr lang="en-US" sz="2400">
                <a:solidFill>
                  <a:srgbClr val="111111"/>
                </a:solidFill>
              </a:rPr>
              <a:t>Informal Agile: iterative build-and-test cycles across two milestone sprints</a:t>
            </a:r>
            <a:endParaRPr lang="en-US" sz="2400">
              <a:solidFill>
                <a:srgbClr val="111111"/>
              </a:solidFill>
              <a:ea typeface="Calibri"/>
              <a:cs typeface="Calibri"/>
            </a:endParaRPr>
          </a:p>
          <a:p>
            <a:endParaRPr lang="en-US" sz="1000" dirty="0"/>
          </a:p>
          <a:p>
            <a:r>
              <a:rPr lang="en-US" sz="2400" b="1" dirty="0">
                <a:solidFill>
                  <a:srgbClr val="111111"/>
                </a:solidFill>
              </a:rPr>
              <a:t>Testing Levels Applied:</a:t>
            </a:r>
          </a:p>
          <a:p>
            <a:r>
              <a:rPr lang="en-US" sz="2400" dirty="0">
                <a:solidFill>
                  <a:srgbClr val="111111"/>
                </a:solidFill>
              </a:rPr>
              <a:t>Component  |  Unit  |  Requirements  |  System</a:t>
            </a:r>
          </a:p>
        </p:txBody>
      </p:sp>
      <p:sp>
        <p:nvSpPr>
          <p:cNvPr id="29" name="Col3Sec1Hdr"/>
          <p:cNvSpPr txBox="1">
            <a:spLocks/>
          </p:cNvSpPr>
          <p:nvPr/>
        </p:nvSpPr>
        <p:spPr>
          <a:xfrm>
            <a:off x="22078800" y="6640000"/>
            <a:ext cx="10239400" cy="1400000"/>
          </a:xfrm>
          <a:prstGeom prst="rect">
            <a:avLst/>
          </a:prstGeom>
          <a:solidFill>
            <a:srgbClr val="280334"/>
          </a:solidFill>
        </p:spPr>
        <p:txBody>
          <a:bodyPr wrap="square" lIns="228600" tIns="91440" rIns="228600" bIns="91440" rtlCol="0" anchor="ctr">
            <a:normAutofit/>
          </a:bodyPr>
          <a:lstStyle/>
          <a:p>
            <a:pPr algn="ctr"/>
            <a:r>
              <a:rPr lang="en-US" sz="5000" b="1" dirty="0">
                <a:solidFill>
                  <a:srgbClr val="FFFFFF"/>
                </a:solidFill>
              </a:rPr>
              <a:t>DESIGN PROCESS</a:t>
            </a:r>
          </a:p>
        </p:txBody>
      </p:sp>
      <p:sp>
        <p:nvSpPr>
          <p:cNvPr id="30" name="Col3Sec1Content"/>
          <p:cNvSpPr txBox="1"/>
          <p:nvPr/>
        </p:nvSpPr>
        <p:spPr>
          <a:xfrm>
            <a:off x="22078800" y="8340000"/>
            <a:ext cx="10239400" cy="7027565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>
              <a:spcBef>
                <a:spcPts val="200"/>
              </a:spcBef>
            </a:pPr>
            <a:r>
              <a:rPr lang="en-US" sz="2600" b="1">
                <a:solidFill>
                  <a:srgbClr val="111111"/>
                </a:solidFill>
              </a:rPr>
              <a:t>Phase 1: Requirements &amp; Scope</a:t>
            </a:r>
          </a:p>
          <a:p>
            <a:r>
              <a:rPr lang="en-US" sz="2200" dirty="0">
                <a:solidFill>
                  <a:srgbClr val="111111"/>
                </a:solidFill>
              </a:rPr>
              <a:t>Core ERS rules translated into 14 functional requirements and 9 use cases. Scope deliberately bounded to ensure a fully functional solo-developer deliverable.</a:t>
            </a:r>
          </a:p>
          <a:p>
            <a:pPr>
              <a:spcBef>
                <a:spcPts val="200"/>
              </a:spcBef>
            </a:pPr>
            <a:r>
              <a:rPr lang="en-US" sz="2600" b="1">
                <a:solidFill>
                  <a:srgbClr val="111111"/>
                </a:solidFill>
              </a:rPr>
              <a:t>Phase 2:  System Architecture</a:t>
            </a:r>
            <a:endParaRPr lang="en-US" sz="2600" b="1">
              <a:solidFill>
                <a:srgbClr val="111111"/>
              </a:solidFill>
              <a:ea typeface="Calibri"/>
              <a:cs typeface="Calibri"/>
            </a:endParaRPr>
          </a:p>
          <a:p>
            <a:r>
              <a:rPr lang="en-US" sz="2200" dirty="0">
                <a:solidFill>
                  <a:srgbClr val="111111"/>
                </a:solidFill>
              </a:rPr>
              <a:t>Class hierarchy designed: Card, Deck, Player → </a:t>
            </a:r>
            <a:r>
              <a:rPr lang="en-US" sz="2200" dirty="0" err="1">
                <a:solidFill>
                  <a:srgbClr val="111111"/>
                </a:solidFill>
              </a:rPr>
              <a:t>HumanPlayer</a:t>
            </a:r>
            <a:r>
              <a:rPr lang="en-US" sz="2200" dirty="0">
                <a:solidFill>
                  <a:srgbClr val="111111"/>
                </a:solidFill>
              </a:rPr>
              <a:t> / </a:t>
            </a:r>
            <a:r>
              <a:rPr lang="en-US" sz="2200" dirty="0" err="1">
                <a:solidFill>
                  <a:srgbClr val="111111"/>
                </a:solidFill>
              </a:rPr>
              <a:t>AIPlayer</a:t>
            </a:r>
            <a:r>
              <a:rPr lang="en-US" sz="2200" dirty="0">
                <a:solidFill>
                  <a:srgbClr val="111111"/>
                </a:solidFill>
              </a:rPr>
              <a:t>, </a:t>
            </a:r>
            <a:r>
              <a:rPr lang="en-US" sz="2200" dirty="0" err="1">
                <a:solidFill>
                  <a:srgbClr val="111111"/>
                </a:solidFill>
              </a:rPr>
              <a:t>GameController</a:t>
            </a:r>
            <a:r>
              <a:rPr lang="en-US" sz="2200" dirty="0">
                <a:solidFill>
                  <a:srgbClr val="111111"/>
                </a:solidFill>
              </a:rPr>
              <a:t>, </a:t>
            </a:r>
            <a:r>
              <a:rPr lang="en-US" sz="2200" dirty="0" err="1">
                <a:solidFill>
                  <a:srgbClr val="111111"/>
                </a:solidFill>
              </a:rPr>
              <a:t>GamePanel</a:t>
            </a:r>
            <a:r>
              <a:rPr lang="en-US" sz="2200" dirty="0">
                <a:solidFill>
                  <a:srgbClr val="111111"/>
                </a:solidFill>
              </a:rPr>
              <a:t>, </a:t>
            </a:r>
            <a:r>
              <a:rPr lang="en-US" sz="2200" dirty="0" err="1">
                <a:solidFill>
                  <a:srgbClr val="111111"/>
                </a:solidFill>
              </a:rPr>
              <a:t>SoundManager</a:t>
            </a:r>
            <a:r>
              <a:rPr lang="en-US" sz="2200" dirty="0">
                <a:solidFill>
                  <a:srgbClr val="111111"/>
                </a:solidFill>
              </a:rPr>
              <a:t>, </a:t>
            </a:r>
            <a:r>
              <a:rPr lang="en-US" sz="2200" dirty="0" err="1">
                <a:solidFill>
                  <a:srgbClr val="111111"/>
                </a:solidFill>
              </a:rPr>
              <a:t>CardImageLoader</a:t>
            </a:r>
            <a:r>
              <a:rPr lang="en-US" sz="2200" dirty="0">
                <a:solidFill>
                  <a:srgbClr val="111111"/>
                </a:solidFill>
              </a:rPr>
              <a:t>, </a:t>
            </a:r>
            <a:r>
              <a:rPr lang="en-US" sz="2200" dirty="0" err="1">
                <a:solidFill>
                  <a:srgbClr val="111111"/>
                </a:solidFill>
              </a:rPr>
              <a:t>GameSave</a:t>
            </a:r>
            <a:r>
              <a:rPr lang="en-US" sz="2200" dirty="0">
                <a:solidFill>
                  <a:srgbClr val="111111"/>
                </a:solidFill>
              </a:rPr>
              <a:t>. System Design Diagram and Logical Model produced.</a:t>
            </a:r>
          </a:p>
          <a:p>
            <a:pPr>
              <a:spcBef>
                <a:spcPts val="200"/>
              </a:spcBef>
            </a:pPr>
            <a:r>
              <a:rPr lang="en-US" sz="2600" b="1">
                <a:solidFill>
                  <a:srgbClr val="111111"/>
                </a:solidFill>
              </a:rPr>
              <a:t>Phase 3:  Iterative Development</a:t>
            </a:r>
            <a:endParaRPr lang="en-US" sz="2600" b="1">
              <a:solidFill>
                <a:srgbClr val="111111"/>
              </a:solidFill>
              <a:ea typeface="Calibri"/>
              <a:cs typeface="Calibri"/>
            </a:endParaRPr>
          </a:p>
          <a:p>
            <a:r>
              <a:rPr lang="en-US" sz="2200" dirty="0">
                <a:solidFill>
                  <a:srgbClr val="111111"/>
                </a:solidFill>
              </a:rPr>
              <a:t>Two milestone iterations (CST-451 Prototype → CST-452 Final). Each followed a build → unit-test → integrate → system-test cycle. Scope adjusted at Milestone 4-5: </a:t>
            </a:r>
            <a:r>
              <a:rPr lang="en-US" sz="2200" dirty="0" err="1">
                <a:solidFill>
                  <a:srgbClr val="111111"/>
                </a:solidFill>
              </a:rPr>
              <a:t>SlapDetector</a:t>
            </a:r>
            <a:r>
              <a:rPr lang="en-US" sz="2200" dirty="0">
                <a:solidFill>
                  <a:srgbClr val="111111"/>
                </a:solidFill>
              </a:rPr>
              <a:t> and </a:t>
            </a:r>
            <a:r>
              <a:rPr lang="en-US" sz="2200" dirty="0" err="1">
                <a:solidFill>
                  <a:srgbClr val="111111"/>
                </a:solidFill>
              </a:rPr>
              <a:t>RoundManager</a:t>
            </a:r>
            <a:r>
              <a:rPr lang="en-US" sz="2200" dirty="0">
                <a:solidFill>
                  <a:srgbClr val="111111"/>
                </a:solidFill>
              </a:rPr>
              <a:t> merged into </a:t>
            </a:r>
            <a:r>
              <a:rPr lang="en-US" sz="2200" dirty="0" err="1">
                <a:solidFill>
                  <a:srgbClr val="111111"/>
                </a:solidFill>
              </a:rPr>
              <a:t>GameController</a:t>
            </a:r>
            <a:r>
              <a:rPr lang="en-US" sz="2200" dirty="0">
                <a:solidFill>
                  <a:srgbClr val="111111"/>
                </a:solidFill>
              </a:rPr>
              <a:t>; Power Stickers and </a:t>
            </a:r>
            <a:r>
              <a:rPr lang="en-US" sz="2200" dirty="0" err="1">
                <a:solidFill>
                  <a:srgbClr val="111111"/>
                </a:solidFill>
              </a:rPr>
              <a:t>UpgradePacks</a:t>
            </a:r>
            <a:r>
              <a:rPr lang="en-US" sz="2200" dirty="0">
                <a:solidFill>
                  <a:srgbClr val="111111"/>
                </a:solidFill>
              </a:rPr>
              <a:t> deferred.</a:t>
            </a:r>
          </a:p>
          <a:p>
            <a:pPr>
              <a:spcBef>
                <a:spcPts val="200"/>
              </a:spcBef>
            </a:pPr>
            <a:r>
              <a:rPr lang="en-US" sz="2600" b="1">
                <a:solidFill>
                  <a:srgbClr val="111111"/>
                </a:solidFill>
              </a:rPr>
              <a:t>Phase 4: Testing Strategy</a:t>
            </a:r>
            <a:endParaRPr lang="en-US" sz="2600" b="1">
              <a:solidFill>
                <a:srgbClr val="111111"/>
              </a:solidFill>
              <a:ea typeface="Calibri"/>
              <a:cs typeface="Calibri"/>
            </a:endParaRPr>
          </a:p>
          <a:p>
            <a:r>
              <a:rPr lang="en-US" sz="2200" dirty="0">
                <a:solidFill>
                  <a:srgbClr val="111111"/>
                </a:solidFill>
              </a:rPr>
              <a:t>14 test cases designed across four testing levels. All requirements traced via Functional Requirements Traceability Matrix (FRTM) mapping FRs to architecture, modules, and test cases.</a:t>
            </a:r>
          </a:p>
          <a:p>
            <a:pPr>
              <a:spcBef>
                <a:spcPts val="200"/>
              </a:spcBef>
            </a:pPr>
            <a:r>
              <a:rPr lang="en-US" sz="2600" b="1">
                <a:solidFill>
                  <a:srgbClr val="111111"/>
                </a:solidFill>
              </a:rPr>
              <a:t>Phase 5: Final Artifact</a:t>
            </a:r>
            <a:endParaRPr lang="en-US" sz="2600" b="1">
              <a:solidFill>
                <a:srgbClr val="111111"/>
              </a:solidFill>
              <a:ea typeface="Calibri"/>
              <a:cs typeface="Calibri"/>
            </a:endParaRPr>
          </a:p>
          <a:p>
            <a:r>
              <a:rPr lang="en-US" sz="2200" dirty="0">
                <a:solidFill>
                  <a:srgbClr val="111111"/>
                </a:solidFill>
              </a:rPr>
              <a:t>Locally runnable desktop application submitted as capstone demonstrable, showcasing game development as a rigorous engineering discipline.</a:t>
            </a:r>
          </a:p>
        </p:txBody>
      </p:sp>
      <p:sp>
        <p:nvSpPr>
          <p:cNvPr id="31" name="Col3Sec2Hdr"/>
          <p:cNvSpPr txBox="1">
            <a:spLocks/>
          </p:cNvSpPr>
          <p:nvPr/>
        </p:nvSpPr>
        <p:spPr>
          <a:xfrm>
            <a:off x="22078800" y="22500000"/>
            <a:ext cx="10239400" cy="1400000"/>
          </a:xfrm>
          <a:prstGeom prst="rect">
            <a:avLst/>
          </a:prstGeom>
          <a:solidFill>
            <a:srgbClr val="280334"/>
          </a:solidFill>
        </p:spPr>
        <p:txBody>
          <a:bodyPr wrap="square" lIns="228600" tIns="91440" rIns="228600" bIns="91440" rtlCol="0" anchor="ctr">
            <a:normAutofit/>
          </a:bodyPr>
          <a:lstStyle/>
          <a:p>
            <a:pPr algn="ctr"/>
            <a:r>
              <a:rPr lang="en-US" sz="5000" b="1" dirty="0">
                <a:solidFill>
                  <a:srgbClr val="FFFFFF"/>
                </a:solidFill>
              </a:rPr>
              <a:t>DATA SUMMARY</a:t>
            </a:r>
          </a:p>
        </p:txBody>
      </p:sp>
      <p:sp>
        <p:nvSpPr>
          <p:cNvPr id="32" name="Col3Sec2Content"/>
          <p:cNvSpPr txBox="1"/>
          <p:nvPr/>
        </p:nvSpPr>
        <p:spPr>
          <a:xfrm>
            <a:off x="22078800" y="24200000"/>
            <a:ext cx="10239400" cy="7473841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r>
              <a:rPr lang="en-US" sz="2400" b="1" dirty="0">
                <a:solidFill>
                  <a:srgbClr val="280334"/>
                </a:solidFill>
              </a:rPr>
              <a:t>Project Completion:  </a:t>
            </a:r>
            <a:r>
              <a:rPr lang="en-US" sz="2400" dirty="0">
                <a:solidFill>
                  <a:srgbClr val="111111"/>
                </a:solidFill>
              </a:rPr>
              <a:t>100%  (9/9 Use Cases Implemented)</a:t>
            </a:r>
          </a:p>
          <a:p>
            <a:r>
              <a:rPr lang="en-US" sz="2400" b="1" dirty="0">
                <a:solidFill>
                  <a:srgbClr val="280334"/>
                </a:solidFill>
              </a:rPr>
              <a:t>Active Functional Requirements:  </a:t>
            </a:r>
            <a:r>
              <a:rPr lang="en-US" sz="2400" dirty="0">
                <a:solidFill>
                  <a:srgbClr val="111111"/>
                </a:solidFill>
              </a:rPr>
              <a:t>14</a:t>
            </a:r>
          </a:p>
          <a:p>
            <a:r>
              <a:rPr lang="en-US" sz="2400" b="1" dirty="0">
                <a:solidFill>
                  <a:srgbClr val="280334"/>
                </a:solidFill>
              </a:rPr>
              <a:t>Test Cases Designed:  </a:t>
            </a:r>
            <a:r>
              <a:rPr lang="en-US" sz="2400" dirty="0">
                <a:solidFill>
                  <a:srgbClr val="111111"/>
                </a:solidFill>
              </a:rPr>
              <a:t>14  (across 4 testing levels)</a:t>
            </a:r>
          </a:p>
          <a:p>
            <a:r>
              <a:rPr lang="en-US" sz="2400" b="1" dirty="0">
                <a:solidFill>
                  <a:srgbClr val="280334"/>
                </a:solidFill>
              </a:rPr>
              <a:t>Development Duration:  </a:t>
            </a:r>
            <a:r>
              <a:rPr lang="en-US" sz="2400" dirty="0">
                <a:solidFill>
                  <a:srgbClr val="111111"/>
                </a:solidFill>
              </a:rPr>
              <a:t>2 Semesters  (CST-451 → CST-452)</a:t>
            </a:r>
          </a:p>
          <a:p>
            <a:endParaRPr lang="en-US" sz="1200" dirty="0"/>
          </a:p>
          <a:p>
            <a:pPr>
              <a:spcBef>
                <a:spcPts val="200"/>
              </a:spcBef>
            </a:pPr>
            <a:r>
              <a:rPr lang="en-US" sz="2400" b="1" dirty="0">
                <a:solidFill>
                  <a:srgbClr val="111111"/>
                </a:solidFill>
              </a:rPr>
              <a:t>IMPLEMENTATION HOURS: ESTIMATED vs. ACTUAL</a:t>
            </a:r>
          </a:p>
          <a:p>
            <a:r>
              <a:rPr lang="en-US" sz="1600" dirty="0">
                <a:solidFill>
                  <a:srgbClr val="111111"/>
                </a:solidFill>
              </a:rPr>
              <a:t>________________________________________________</a:t>
            </a:r>
          </a:p>
          <a:p>
            <a:r>
              <a:rPr lang="en-US" sz="2000" b="1" dirty="0">
                <a:solidFill>
                  <a:srgbClr val="111111"/>
                </a:solidFill>
              </a:rPr>
              <a:t>Use Case                       Est.   Actual   Delta</a:t>
            </a:r>
          </a:p>
          <a:p>
            <a:r>
              <a:rPr lang="en-US" sz="1600" dirty="0">
                <a:solidFill>
                  <a:srgbClr val="111111"/>
                </a:solidFill>
              </a:rPr>
              <a:t>________________________________________________</a:t>
            </a:r>
          </a:p>
          <a:p>
            <a:r>
              <a:rPr lang="en-US" sz="2000" dirty="0">
                <a:solidFill>
                  <a:srgbClr val="111111"/>
                </a:solidFill>
              </a:rPr>
              <a:t>Game Initialization           4.0      3.5    -0.5</a:t>
            </a:r>
          </a:p>
          <a:p>
            <a:r>
              <a:rPr lang="en-US" sz="2000" dirty="0">
                <a:solidFill>
                  <a:srgbClr val="111111"/>
                </a:solidFill>
              </a:rPr>
              <a:t>Play a Card                   6.0      7.0    +1.0</a:t>
            </a:r>
          </a:p>
          <a:p>
            <a:r>
              <a:rPr lang="en-US" sz="2000" dirty="0">
                <a:solidFill>
                  <a:srgbClr val="111111"/>
                </a:solidFill>
              </a:rPr>
              <a:t>Slap Mechanic                 8.0      9.0    +1.0</a:t>
            </a:r>
          </a:p>
          <a:p>
            <a:r>
              <a:rPr lang="en-US" sz="2000" dirty="0">
                <a:solidFill>
                  <a:srgbClr val="111111"/>
                </a:solidFill>
              </a:rPr>
              <a:t>Faces &amp; Aces Rule             5.0      6.0    +1.0</a:t>
            </a:r>
          </a:p>
          <a:p>
            <a:r>
              <a:rPr lang="en-US" sz="2000" dirty="0">
                <a:solidFill>
                  <a:srgbClr val="111111"/>
                </a:solidFill>
              </a:rPr>
              <a:t>Round End / Tiebreaker        7.0      8.0    +1.0</a:t>
            </a:r>
          </a:p>
          <a:p>
            <a:r>
              <a:rPr lang="en-US" sz="2000" dirty="0">
                <a:solidFill>
                  <a:srgbClr val="111111"/>
                </a:solidFill>
              </a:rPr>
              <a:t>AI Difficulty Scaling         4.0      3.0    -1.0</a:t>
            </a:r>
          </a:p>
          <a:p>
            <a:r>
              <a:rPr lang="en-US" sz="2000" dirty="0">
                <a:solidFill>
                  <a:srgbClr val="111111"/>
                </a:solidFill>
              </a:rPr>
              <a:t>Card Store                    8.0     10.0    +2.0</a:t>
            </a:r>
          </a:p>
          <a:p>
            <a:r>
              <a:rPr lang="en-US" sz="2000" dirty="0">
                <a:solidFill>
                  <a:srgbClr val="111111"/>
                </a:solidFill>
              </a:rPr>
              <a:t>Save &amp; Load                   6.0      7.0    +1.0</a:t>
            </a:r>
          </a:p>
          <a:p>
            <a:r>
              <a:rPr lang="en-US" sz="2000" dirty="0">
                <a:solidFill>
                  <a:srgbClr val="111111"/>
                </a:solidFill>
              </a:rPr>
              <a:t>UI &amp; Rendering               15.0     18.0    +3.0</a:t>
            </a:r>
          </a:p>
          <a:p>
            <a:r>
              <a:rPr lang="en-US" sz="1600" dirty="0">
                <a:solidFill>
                  <a:srgbClr val="111111"/>
                </a:solidFill>
              </a:rPr>
              <a:t>________________________________________________</a:t>
            </a:r>
          </a:p>
          <a:p>
            <a:r>
              <a:rPr lang="en-US" sz="2000" dirty="0">
                <a:solidFill>
                  <a:srgbClr val="111111"/>
                </a:solidFill>
              </a:rPr>
              <a:t>TOTAL                        63.0     72.5    +9.5</a:t>
            </a:r>
          </a:p>
          <a:p>
            <a:r>
              <a:rPr lang="en-US" sz="1600" dirty="0">
                <a:solidFill>
                  <a:srgbClr val="111111"/>
                </a:solidFill>
              </a:rPr>
              <a:t>________________________________________________</a:t>
            </a:r>
          </a:p>
          <a:p>
            <a:endParaRPr lang="en-US" sz="1200" dirty="0"/>
          </a:p>
          <a:p>
            <a:r>
              <a:rPr lang="en-US" sz="2200" dirty="0">
                <a:solidFill>
                  <a:srgbClr val="111111"/>
                </a:solidFill>
              </a:rPr>
              <a:t>Actual hours exceeded estimates by +15%, primarily in UI/Rendering and</a:t>
            </a:r>
          </a:p>
          <a:p>
            <a:r>
              <a:rPr lang="en-US" sz="2200">
                <a:solidFill>
                  <a:srgbClr val="111111"/>
                </a:solidFill>
              </a:rPr>
              <a:t>Card Store,  both were high-complexity, event-driven features.</a:t>
            </a:r>
            <a:endParaRPr lang="en-US" sz="2200">
              <a:solidFill>
                <a:srgbClr val="111111"/>
              </a:solidFill>
              <a:ea typeface="Calibri"/>
              <a:cs typeface="Calibri"/>
            </a:endParaRPr>
          </a:p>
        </p:txBody>
      </p:sp>
      <p:pic>
        <p:nvPicPr>
          <p:cNvPr id="3" name="GCU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0000" y="40200000"/>
            <a:ext cx="4800000" cy="3291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1D7BF13958C64483E7E107A08507EA" ma:contentTypeVersion="3706" ma:contentTypeDescription="Create a new document." ma:contentTypeScope="" ma:versionID="27b9d429859bcb4cc95ca5b147d3168a">
  <xsd:schema xmlns:xsd="http://www.w3.org/2001/XMLSchema" xmlns:xs="http://www.w3.org/2001/XMLSchema" xmlns:p="http://schemas.microsoft.com/office/2006/metadata/properties" xmlns:ns1="http://schemas.microsoft.com/sharepoint/v3" xmlns:ns2="b457ba54-12e9-41a3-ab87-ffd5bc645430" xmlns:ns3="37d47695-dda2-48a2-87bc-2a1f7ac7fedc" targetNamespace="http://schemas.microsoft.com/office/2006/metadata/properties" ma:root="true" ma:fieldsID="1c82921937d1af28a735bf3437c860b8" ns1:_="" ns2:_="" ns3:_="">
    <xsd:import namespace="http://schemas.microsoft.com/sharepoint/v3"/>
    <xsd:import namespace="b457ba54-12e9-41a3-ab87-ffd5bc645430"/>
    <xsd:import namespace="37d47695-dda2-48a2-87bc-2a1f7ac7fe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57ba54-12e9-41a3-ab87-ffd5bc6454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6f79346d-4f46-4bf1-b4df-486c6d391f3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d47695-dda2-48a2-87bc-2a1f7ac7fedc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ebea8f4f-161d-469c-9cf2-f7071433846c}" ma:internalName="TaxCatchAll" ma:showField="CatchAllData" ma:web="37d47695-dda2-48a2-87bc-2a1f7ac7fed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37d47695-dda2-48a2-87bc-2a1f7ac7fedc" xsi:nil="true"/>
    <lcf76f155ced4ddcb4097134ff3c332f xmlns="b457ba54-12e9-41a3-ab87-ffd5bc64543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78B2000-F3EA-407A-BB9E-2050E5F2FB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457ba54-12e9-41a3-ab87-ffd5bc645430"/>
    <ds:schemaRef ds:uri="37d47695-dda2-48a2-87bc-2a1f7ac7fed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B8E3D21-E603-4A1B-A79A-45A8E27A4A0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8CC34E-46EA-4D24-8732-7729D15FAD84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b3b59848-949a-4ed4-8036-feb011ce2b52"/>
    <ds:schemaRef ds:uri="http://purl.org/dc/elements/1.1/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37d47695-dda2-48a2-87bc-2a1f7ac7fedc"/>
    <ds:schemaRef ds:uri="http://www.w3.org/XML/1998/namespace"/>
    <ds:schemaRef ds:uri="b457ba54-12e9-41a3-ab87-ffd5bc64543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72</TotalTime>
  <Words>140</Words>
  <Application>Microsoft Office PowerPoint</Application>
  <PresentationFormat>Custom</PresentationFormat>
  <Paragraphs>30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Grand Canyon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 Valla</dc:creator>
  <cp:lastModifiedBy>Michelle Lipp (GCE)</cp:lastModifiedBy>
  <cp:revision>28</cp:revision>
  <dcterms:created xsi:type="dcterms:W3CDTF">2018-09-14T20:10:55Z</dcterms:created>
  <dcterms:modified xsi:type="dcterms:W3CDTF">2026-04-12T08:39:03Z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0x010100911D7BF13958C64483E7E107A08507EA</vt:lpwstr>
  </property>
  <property fmtid="{D5CDD505-2E9C-101B-9397-08002B2CF9AE}" pid="3" name="MediaServiceImageTags">
    <vt:lpwstr/>
  </property>
</Properties>
</file>